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1425f8b984adb" /><Relationship Type="http://schemas.openxmlformats.org/officeDocument/2006/relationships/extended-properties" Target="/docProps/app.xml" Id="R4f299721ab3c42f5" /><Relationship Type="http://schemas.openxmlformats.org/officeDocument/2006/relationships/officeDocument" Target="/ppt/presentation.xml" Id="Rd0edff449941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12b467d46b4503"/>
  </p:sldMasterIdLst>
  <p:notesMasterIdLst>
    <p:notesMasterId xmlns:r="http://schemas.openxmlformats.org/officeDocument/2006/relationships" r:id="R8ffddb50dced45fa"/>
  </p:notesMasterIdLst>
  <p:sldIdLst>
    <p:sldId xmlns:r="http://schemas.openxmlformats.org/officeDocument/2006/relationships" id="256" r:id="Re60130373bed4913"/>
    <p:sldId xmlns:r="http://schemas.openxmlformats.org/officeDocument/2006/relationships" id="257" r:id="R9a4569024aa64535"/>
    <p:sldId xmlns:r="http://schemas.openxmlformats.org/officeDocument/2006/relationships" id="258" r:id="Rdfd17fa49bdc40d2"/>
    <p:sldId xmlns:r="http://schemas.openxmlformats.org/officeDocument/2006/relationships" id="259" r:id="Rcb53c0cd5ccc47fa"/>
    <p:sldId xmlns:r="http://schemas.openxmlformats.org/officeDocument/2006/relationships" id="260" r:id="Rcedf9c860d6a4760"/>
    <p:sldId xmlns:r="http://schemas.openxmlformats.org/officeDocument/2006/relationships" id="261" r:id="Rb2f164ad22d84503"/>
    <p:sldId xmlns:r="http://schemas.openxmlformats.org/officeDocument/2006/relationships" id="262" r:id="Rf63cc93e05ae4b58"/>
    <p:sldId xmlns:r="http://schemas.openxmlformats.org/officeDocument/2006/relationships" id="263" r:id="R550a7da18ba54910"/>
    <p:sldId xmlns:r="http://schemas.openxmlformats.org/officeDocument/2006/relationships" id="264" r:id="R9afbc0d34fe640b7"/>
    <p:sldId xmlns:r="http://schemas.openxmlformats.org/officeDocument/2006/relationships" id="265" r:id="R7ff5c621a779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5890f4b52417d" /><Relationship Type="http://schemas.openxmlformats.org/officeDocument/2006/relationships/slideMaster" Target="/ppt/slideMasters/slideMaster1.xml" Id="R7512b467d46b4503" /><Relationship Type="http://schemas.openxmlformats.org/officeDocument/2006/relationships/notesMaster" Target="/ppt/notesMasters/notesMaster1.xml" Id="R8ffddb50dced45fa" /><Relationship Type="http://schemas.openxmlformats.org/officeDocument/2006/relationships/presProps" Target="/ppt/presProps.xml" Id="R2415911f97684d52" /><Relationship Type="http://schemas.openxmlformats.org/officeDocument/2006/relationships/tableStyles" Target="/ppt/tableStyles.xml" Id="R9e100308627a4255" /><Relationship Type="http://schemas.openxmlformats.org/officeDocument/2006/relationships/slide" Target="/ppt/slides/slide1.xml" Id="Re60130373bed4913" /><Relationship Type="http://schemas.openxmlformats.org/officeDocument/2006/relationships/slide" Target="/ppt/slides/slide2.xml" Id="R9a4569024aa64535" /><Relationship Type="http://schemas.openxmlformats.org/officeDocument/2006/relationships/slide" Target="/ppt/slides/slide3.xml" Id="Rdfd17fa49bdc40d2" /><Relationship Type="http://schemas.openxmlformats.org/officeDocument/2006/relationships/slide" Target="/ppt/slides/slide4.xml" Id="Rcb53c0cd5ccc47fa" /><Relationship Type="http://schemas.openxmlformats.org/officeDocument/2006/relationships/slide" Target="/ppt/slides/slide5.xml" Id="Rcedf9c860d6a4760" /><Relationship Type="http://schemas.openxmlformats.org/officeDocument/2006/relationships/slide" Target="/ppt/slides/slide6.xml" Id="Rb2f164ad22d84503" /><Relationship Type="http://schemas.openxmlformats.org/officeDocument/2006/relationships/slide" Target="/ppt/slides/slide7.xml" Id="Rf63cc93e05ae4b58" /><Relationship Type="http://schemas.openxmlformats.org/officeDocument/2006/relationships/slide" Target="/ppt/slides/slide8.xml" Id="R550a7da18ba54910" /><Relationship Type="http://schemas.openxmlformats.org/officeDocument/2006/relationships/slide" Target="/ppt/slides/slide9.xml" Id="R9afbc0d34fe640b7" /><Relationship Type="http://schemas.openxmlformats.org/officeDocument/2006/relationships/slide" Target="/ppt/slides/slide10.xml" Id="R7ff5c621a779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23a6c977c2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ec848f3fd4a3b" /><Relationship Type="http://schemas.openxmlformats.org/officeDocument/2006/relationships/notesMaster" Target="/ppt/notesMasters/notesMaster1.xml" Id="Re11286fde96b48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705fc48c574209" /><Relationship Type="http://schemas.openxmlformats.org/officeDocument/2006/relationships/notesMaster" Target="/ppt/notesMasters/notesMaster1.xml" Id="R49889142931d45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d6e46de8fa4973" /><Relationship Type="http://schemas.openxmlformats.org/officeDocument/2006/relationships/notesMaster" Target="/ppt/notesMasters/notesMaster1.xml" Id="R319984d5c0dd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3fb3d83944872" /><Relationship Type="http://schemas.openxmlformats.org/officeDocument/2006/relationships/notesMaster" Target="/ppt/notesMasters/notesMaster1.xml" Id="R0d2c905e5fe6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b3999ad8ad46e1" /><Relationship Type="http://schemas.openxmlformats.org/officeDocument/2006/relationships/notesMaster" Target="/ppt/notesMasters/notesMaster1.xml" Id="R8ef7a732e4774a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0c8f0c5e0e457a" /><Relationship Type="http://schemas.openxmlformats.org/officeDocument/2006/relationships/notesMaster" Target="/ppt/notesMasters/notesMaster1.xml" Id="Rfdd3636ac52d45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6f1b0f5b44708" /><Relationship Type="http://schemas.openxmlformats.org/officeDocument/2006/relationships/notesMaster" Target="/ppt/notesMasters/notesMaster1.xml" Id="Rc0ccc262265f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45fc6a622b450c" /><Relationship Type="http://schemas.openxmlformats.org/officeDocument/2006/relationships/notesMaster" Target="/ppt/notesMasters/notesMaster1.xml" Id="Rbc25644574e643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7f5b54c3c44180" /><Relationship Type="http://schemas.openxmlformats.org/officeDocument/2006/relationships/notesMaster" Target="/ppt/notesMasters/notesMaster1.xml" Id="R56287666929c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fe95b254e4bd3" /><Relationship Type="http://schemas.openxmlformats.org/officeDocument/2006/relationships/notesMaster" Target="/ppt/notesMasters/notesMaster1.xml" Id="R213e4c4e2f0d44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como un portafolio compartido para Jocsan Nahuelan y Joaquín Pérez. El usuario puede cambiar el perfil; la página reutiliza los componentes y carga los datos desde JSON. Fuente visual: docs/evidencias/portafolio-jocsan.png. Criterios: DSY1104 Evaluación Formativa 2 - Estudiante.pdf.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sitio tiene dos perfiles dentro de una sola interfaz. Al seleccionar a una persona se reemplazan sus datos, pero se conserva el diseño y los componentes. Cada perfil presenta biografía, tecnologías, sección opcional de IA, proyectos, dos categorías de noticias y contacto. Capturas: docs/evidencias/portafolio-jocsan.png y portafolio-joaquin.png. Código: src/data/perfiles.js y src/pages/PortfolioPage.jsx.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cada proyecto con su propósito y tecnologías principales. Slowkemanía puede usar Supabase o products.json local; VentaCars es HTML, CSS y JavaScript; Zafinas es una aplicación de finanzas personales; Dolchesse es un prototipo frontend y todavía no tiene inventario, base de datos ni pagos. Las tarjetas tienen imágenes y descripciones, pero sus enlaces de destino están vacíos. Fuente: src/data/jocsan.json y docs/evidencias/proyectos-jocsan.png.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sección de Joaquín ya contiene biografía, foto, habilidades y dos proyectos. TechGaming describe un e-commerce de hardware gaming y atención postventa; Tac-tech es una solución Android para trazabilidad y verificación de visitas. Falta agregar un tercer proyecto para cumplir el mínimo de la pauta según el equipo, además de completar enlaces de demo/repositorio. El JSON usa ia:null y por eso la sección de IA no aparece. Fuente: src/data/compañero.json y docs/evidencias/proyectos-joaquin.png.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jerarquía de abajo hacia arriba: átomos son controles o textos básicos; las moléculas combinan elementos, por ejemplo ProjectCard; los organismos montan secciones; PortfolioTemplate ordena la página; PortfolioPage selecciona los datos y conecta todo. En el fragmento, &lt;ProjectsSection proyectos={perfil.proyectos} /&gt; llama un organismo y le pasa el arreglo de proyectos mediante una prop. Código: src/pages/PortfolioPage.jsx y src/components/templates/PortfolioTemplate.jsx.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en orden. Primero useState guarda el índice activo. Después perfiles.js entrega el objeto actual. PortfolioPage pasa ese objeto a los organismos por props. ProjectsSection crea tarjetas para proyectos y filtra por categoría; NewsSection filtra por personal o aprendizaje. Los archivos JSON son datos locales, no una conexión a una API. Código: src/data/perfiles.js, src/pages/PortfolioPage.jsx, src/components/organisms/ProjectsSection.jsx y NewsSection.jsx.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formulario guarda cada campo en estado, cancela el envío del navegador y revisa que nombre, correo y mensaje tengan contenido y que el correo tenga formato válido. En éxito limpia los campos y muestra una confirmación local; no hay backend. Navbar genera NavigationItem desde una lista; el menú móvil se puede abrir y cerrar y actualiza aria-expanded. Bootstrap aporta la cuadrícula responsive. Hay alt, etiquetas y alert/status, pero falta auditoría formal con teclado y lector de pantalla. Código: ContactForm.jsx, Navbar.jsx, FormField.jsx y estilos de src/styles.css.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registrados: npm run test -- --run aprobó cuatro casos; npm run test:browser -- --run aprobó tres en Chromium; npm run build terminó. Cobertura: 89.85% statements, 69.23% branches, 88.09% functions y 89.55% lines, medida solo sobre componentes y páginas incluidos en la configuración. Aclarar que falta un proyecto de Joaquín, enlaces válidos, completar pruebas y auditorías, activar GitHub Pages y corregir lint. Referencias: docs/PLAN-DE-PRUEBAS.md, docs/AVANCES.md y docs/evidencias/cobertura-resumen.png. La evaluación nombra Jasmine/Karma; el equipo informó la corrección para Vitest/Chromium.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muestra cambios reales del historial de main, consultado en el repositorio GitHub antes de preparar la presentación. Los hashes abreviados permiten localizar cada commit. Explicar la progresión: README y material del perfil/proyectos; luego configuración de las pruebas y fixtures; finalmente pruebas unitarias y del navegador. Los cambios de octubre 19 y 20 se muestran como hitos, no como una lista exhaustiva. Fuente: git log del repositorio portafolio-personal.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recordando que la propuesta combina datos separados por persona con una estructura React compartida. Atomic Design ordena los componentes, las props entregan datos y el estado controla las interacciones. Las pruebas ejecutadas aprobaron cuatro casos unitarios y tres en Chromium; la compilación también terminó correctamente. Agradecer al curso y abrir espacio para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3f59dc56849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dd48cb2a345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5d6ad49a045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e20a074974b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e7bc20ff74a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d9dfe5fa845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322887-6BC8-46F1-8259-1BA303B99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AFCD96-CF73-4233-BF23-0D94E717B6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0A83F5-32FF-4DA0-A59B-6484F3CA6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C4BA0-B943-4875-BB69-F6578C24E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EB9A27-A8B5-40C8-A96A-04D92C1184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028F84-81D7-475B-9601-04CC20C08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8A8FC9-033B-4FFD-8286-A3EB65589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C1B081-F92C-4F47-902B-A3E5CEA169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A3A9C-F661-48F5-AF15-C31DBA5E9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8A95A1-393B-4D2B-9693-0FC707B663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0402468a294d31" /><Relationship Type="http://schemas.openxmlformats.org/officeDocument/2006/relationships/slideLayout" Target="/ppt/slideLayouts/slideLayout1.xml" Id="Rdb1eb10aa8244a55" /><Relationship Type="http://schemas.openxmlformats.org/officeDocument/2006/relationships/slideLayout" Target="/ppt/slideLayouts/slideLayout2.xml" Id="Rb7c4406520164cb2" /><Relationship Type="http://schemas.openxmlformats.org/officeDocument/2006/relationships/slideLayout" Target="/ppt/slideLayouts/slideLayout3.xml" Id="R2c057eba2f724ed2" /><Relationship Type="http://schemas.openxmlformats.org/officeDocument/2006/relationships/slideLayout" Target="/ppt/slideLayouts/slideLayout4.xml" Id="Rf2fc2909f7b441cc" /><Relationship Type="http://schemas.openxmlformats.org/officeDocument/2006/relationships/slideLayout" Target="/ppt/slideLayouts/slideLayout5.xml" Id="R7da42b9094b34cae" /><Relationship Type="http://schemas.openxmlformats.org/officeDocument/2006/relationships/slideLayout" Target="/ppt/slideLayouts/slideLayout6.xml" Id="R49627d264def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1eb10aa8244a55"/>
    <p:sldLayoutId xmlns:r="http://schemas.openxmlformats.org/officeDocument/2006/relationships" id="2147483650" r:id="Rb7c4406520164cb2"/>
    <p:sldLayoutId xmlns:r="http://schemas.openxmlformats.org/officeDocument/2006/relationships" id="2147483651" r:id="R2c057eba2f724ed2"/>
    <p:sldLayoutId xmlns:r="http://schemas.openxmlformats.org/officeDocument/2006/relationships" id="2147483652" r:id="Rf2fc2909f7b441cc"/>
    <p:sldLayoutId xmlns:r="http://schemas.openxmlformats.org/officeDocument/2006/relationships" id="2147483653" r:id="R7da42b9094b34cae"/>
    <p:sldLayoutId xmlns:r="http://schemas.openxmlformats.org/officeDocument/2006/relationships" id="2147483654" r:id="R49627d264def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f89b9bee04b67" /><Relationship Type="http://schemas.openxmlformats.org/officeDocument/2006/relationships/image" Target="/ppt/media/image.png" Id="R34598f068db64ba1" /><Relationship Type="http://schemas.openxmlformats.org/officeDocument/2006/relationships/notesSlide" Target="/ppt/notesSlides/notesSlide1.xml" Id="R948ee42c5d10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8b05928114e48" /><Relationship Type="http://schemas.openxmlformats.org/officeDocument/2006/relationships/image" Target="/ppt/media/image2.png" Id="R1f995148678d45f9" /><Relationship Type="http://schemas.openxmlformats.org/officeDocument/2006/relationships/image" Target="/ppt/media/image3.png" Id="Rbd50cf247c4f4615" /><Relationship Type="http://schemas.openxmlformats.org/officeDocument/2006/relationships/notesSlide" Target="/ppt/notesSlides/notesSlide2.xml" Id="Rd07b1ef3ef6f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93feffcb045e4" /><Relationship Type="http://schemas.openxmlformats.org/officeDocument/2006/relationships/image" Target="/ppt/media/image4.png" Id="R6c46844dccab44a0" /><Relationship Type="http://schemas.openxmlformats.org/officeDocument/2006/relationships/notesSlide" Target="/ppt/notesSlides/notesSlide3.xml" Id="R85d68964c3bf49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e59f19e5241de" /><Relationship Type="http://schemas.openxmlformats.org/officeDocument/2006/relationships/image" Target="/ppt/media/image5.png" Id="Rca0696d0817741a5" /><Relationship Type="http://schemas.openxmlformats.org/officeDocument/2006/relationships/notesSlide" Target="/ppt/notesSlides/notesSlide4.xml" Id="R1a7d3879f40f4b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3725622734a1c" /><Relationship Type="http://schemas.openxmlformats.org/officeDocument/2006/relationships/notesSlide" Target="/ppt/notesSlides/notesSlide5.xml" Id="R6d9f0572f5e74a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c86fe0a844806" /><Relationship Type="http://schemas.openxmlformats.org/officeDocument/2006/relationships/notesSlide" Target="/ppt/notesSlides/notesSlide6.xml" Id="R1c3abf56ab2a40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aba2984bc4a9b" /><Relationship Type="http://schemas.openxmlformats.org/officeDocument/2006/relationships/image" Target="/ppt/media/image6.png" Id="R887451f506824367" /><Relationship Type="http://schemas.openxmlformats.org/officeDocument/2006/relationships/notesSlide" Target="/ppt/notesSlides/notesSlide7.xml" Id="R4a7bd4ef4b3242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95e9e2d2b4e81" /><Relationship Type="http://schemas.openxmlformats.org/officeDocument/2006/relationships/image" Target="/ppt/media/image7.png" Id="Rdbb2d02f032546db" /><Relationship Type="http://schemas.openxmlformats.org/officeDocument/2006/relationships/notesSlide" Target="/ppt/notesSlides/notesSlide8.xml" Id="R37c7da039e9649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588e3aa284fb0" /><Relationship Type="http://schemas.openxmlformats.org/officeDocument/2006/relationships/notesSlide" Target="/ppt/notesSlides/notesSlide9.xml" Id="R577f9ce057cd4f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6ff59bedf4038" /><Relationship Type="http://schemas.openxmlformats.org/officeDocument/2006/relationships/image" Target="/ppt/media/image8.png" Id="R71ec7e4a0b0346fe" /><Relationship Type="http://schemas.openxmlformats.org/officeDocument/2006/relationships/notesSlide" Target="/ppt/notesSlides/notesSlide10.xml" Id="Rbc715a40d9bd4f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EB73A2-3A69-46BF-865F-FAE4B600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94F8E6-DFC1-4552-AD3F-472F78B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22"/>
          </a:bodyPr>
          <a:lstStyle xmlns:a="http://schemas.openxmlformats.org/drawingml/2006/main">
            <a:def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Portafolio</a:t>
            </a:r>
          </a:p>
          <a:p xmlns:a="http://schemas.openxmlformats.org/drawingml/2006/main">
            <a:pPr algn="l">
              <a:defRPr sz="39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personal compartido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C2AF6EF-A376-4184-9EFA-9158C8CD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Dos perfiles, proyectos y noticias en una interfaz React modular.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295E107B-BDC2-4D4C-9F44-6A4DF3F5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1719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A4A277-3811-4250-9D3A-82E874A3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Jocsan Nahuelan  ·  Joaquín Pérez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BDA1DC-79F4-4CCB-969D-28A7D54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D9C7"/>
                </a:solidFill>
                <a:latin typeface="Arial"/>
                <a:ea typeface="Arial"/>
                <a:cs typeface="Arial"/>
              </a:rPr>
              <a:t>Trabajo grupal · presentación breve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2C18E-0AE8-4C8C-ABE0-71FA779EB7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98f068db64ba1"/>
          <a:srcRect xmlns:a="http://schemas.openxmlformats.org/drawingml/2006/main" l="80" t="0" r="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819150"/>
            <a:ext cx="5962650" cy="3981450"/>
          </a:xfrm>
          <a:prstGeom xmlns:a="http://schemas.openxmlformats.org/drawingml/2006/main" prst="roundRect">
            <a:avLst>
              <a:gd name="adj" fmla="val 3349"/>
            </a:avLst>
          </a:prstGeom>
        </p:spPr>
      </p:pic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FF17797-E49A-4CE5-ABF3-FBC66FF7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67300"/>
            <a:ext cx="59626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D90E7B8-2989-42CD-AA2E-20F99EC5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Qué vamos a mostrar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1DB366-C870-43D4-8A9B-814254C5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La interfaz · cómo se conectan los componentes · pruebas y pendientes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35143E-CF45-4E6A-8513-B66D22B6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Sitio capturado localmente en Chromium</a:t>
            </a:r>
          </a:p>
        </p:txBody>
      </p:sp>
    </p:spTree>
    <p:extLst>
      <p:ext uri="{BB962C8B-B14F-4D97-AF65-F5344CB8AC3E}">
        <p14:creationId xmlns:p14="http://schemas.microsoft.com/office/powerpoint/2010/main" val="996292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59D709-D020-46EA-B36E-0683A0C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OBJETIVO DEL PROYECTO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7C63BD-BD5F-40DD-B49A-8EC5B2CE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Qué construimos y cómo se usa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19A17-94B7-4001-A284-7376FB3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A9EAE1-5EA3-414D-A039-5D043BCC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A95605-C0EE-48D6-A4F4-D488D3F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2/10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4F119-0AD7-41DE-AA8B-BAC196A67E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95148678d45f9"/>
          <a:srcRect xmlns:a="http://schemas.openxmlformats.org/drawingml/2006/main" l="0" t="91" r="0" b="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33500"/>
            <a:ext cx="5238750" cy="3486150"/>
          </a:xfrm>
          <a:prstGeom xmlns:a="http://schemas.openxmlformats.org/drawingml/2006/main" prst="roundRect">
            <a:avLst>
              <a:gd name="adj" fmla="val 3825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8DAA6-6440-447C-AAAE-5504A9CEF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0cf247c4f4615"/>
          <a:srcRect xmlns:a="http://schemas.openxmlformats.org/drawingml/2006/main" l="0" t="91" r="0" b="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333500"/>
            <a:ext cx="5238750" cy="3486150"/>
          </a:xfrm>
          <a:prstGeom xmlns:a="http://schemas.openxmlformats.org/drawingml/2006/main" prst="roundRect">
            <a:avLst>
              <a:gd name="adj" fmla="val 3825"/>
            </a:avLst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E217B1-F8EC-4E67-B7FD-EDC84B2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Perfil de Jocsan Nahuelan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E683EF-6103-4ED8-8A18-2ED5400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244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Perfil de Joaquín Pérez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10A3B43F-9D10-4ABE-92CB-B024276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F0CF12-947A-46F0-B303-057F4772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1052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El selector cambia biografía, foto, habilidades, proyectos, noticias y redes. Ambos perfiles comparten la misma estructura React; sus datos se mantienen separados en JSON.</a:t>
            </a:r>
          </a:p>
        </p:txBody>
      </p:sp>
    </p:spTree>
    <p:extLst>
      <p:ext uri="{BB962C8B-B14F-4D97-AF65-F5344CB8AC3E}">
        <p14:creationId xmlns:p14="http://schemas.microsoft.com/office/powerpoint/2010/main" val="306847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CAAB2C-977D-4E78-B5F8-E2F0471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PORTAFOLIO PERSONAL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F99D05-85A4-42D3-A3B5-0204F7F2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Proyectos de Jocsan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305A6-DC66-4A9B-8A49-332E6C4C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1F4E4D-3CB8-4DD4-B807-42FF2891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0865EB-4668-4DF2-94DD-B5FD1F60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3/10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314A-AD7B-4977-B214-2621FE1EA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6844dccab44a0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810250" cy="3876675"/>
          </a:xfrm>
          <a:prstGeom xmlns:a="http://schemas.openxmlformats.org/drawingml/2006/main" prst="roundRect">
            <a:avLst>
              <a:gd name="adj" fmla="val 3440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7ED830-27C6-4D47-97DB-EDC5EEED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62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Slowkemanía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9ED9E1-4320-40D7-83D3-06A86A1F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Catálogo de figuras Pokémon con búsqueda, fichas y compras por Instagram.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A9C015-B99D-4530-876F-1C282F6E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33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React · TypeScript · Vite · Supabase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26BB3D-C461-41FB-AC74-BE4CECE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28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VentaCars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B3BE17-E294-4B53-8EC2-92A80AE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Catálogo de vehículos SUV, sedán y deportivos.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F6DA7F-94C7-4C5D-A083-5D13027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52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5BF118-6723-40BF-8F14-EB77529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Zafinas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E002114-90C7-4683-AD79-6AF3F99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Finanzas personales: ingresos, gastos, cuentas y gráficos.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120648-1986-4A6F-BA4C-ABF8730B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React · Vite · Bootstrap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F84B204-283A-4D7E-9E07-1158752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38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Dolchesse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945B759-B1D1-4665-80C1-E8BA240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1492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Tienda de pastelería; conserva la selección en el navegador y prepara pedidos para Instagram.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8E67BF-0191-4D5F-9493-EAA39240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Next.js · React · TypeScript · localStorage</a:t>
            </a:r>
          </a:p>
        </p:txBody>
      </p:sp>
    </p:spTree>
    <p:extLst>
      <p:ext uri="{BB962C8B-B14F-4D97-AF65-F5344CB8AC3E}">
        <p14:creationId xmlns:p14="http://schemas.microsoft.com/office/powerpoint/2010/main" val="410848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20F5033-7561-4664-BBF5-51461484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TRABAJO EN EQUIPO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BBD4B3C-E4B4-4DA9-AC3C-A647C89F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Perfil y proyectos de Joaquín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220C0-4E22-44EB-BEF5-2086BB7F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5613F08-88EC-47D9-8C18-26AEDFA7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BA615F-1781-492B-B842-EC6E757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A5938-619B-44E6-BC28-1B9B95E55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696d0817741a5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810250" cy="3876675"/>
          </a:xfrm>
          <a:prstGeom xmlns:a="http://schemas.openxmlformats.org/drawingml/2006/main" prst="roundRect">
            <a:avLst>
              <a:gd name="adj" fmla="val 3440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1ADB40-A7BD-412D-A7CF-04B09A61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362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TechGaming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2509DD-1876-4427-A356-F98B5D4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E-commerce de hardware gaming con cotización, compra y soporte técnico.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61051A-F171-49B9-A000-E202E792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764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JavaScript · HTML · Bootstrap · CSS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6F13F7-711B-48D6-8704-F0AC727E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Tac-tech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50A0DE-3A1A-4C59-B86A-D2CD7A2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146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Aplicación para registrar y verificar visitas en terreno de equipos de distribución.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B6B57F5-FD58-43F8-94A8-1F46473D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Kotlin · Android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3BE6DFE2-0B72-4802-81DA-96FF67CC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7815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30271E"/>
          </a:solidFill>
          <a:ln xmlns:a="http://schemas.openxmlformats.org/drawingml/2006/main" w="9525">
            <a:solidFill>
              <a:srgbClr val="76563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ACC7FE-BC1B-4E7A-9C57-F7AAFC35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62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A65A"/>
                </a:solidFill>
                <a:latin typeface="Arial"/>
                <a:ea typeface="Arial"/>
                <a:cs typeface="Arial"/>
              </a:rPr>
              <a:t>Espacio para el tercer proyecto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49399C-2700-436B-AFAE-14C43205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Agregar título, imagen, descripción, tecnologías y un enlace de demo o repositorio en compañero.json.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9E9466-FD85-4124-BB50-F14B0A4E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El perfil también tiene biografía y habilidades; la sección de IA se oculta porque su valor es null.</a:t>
            </a:r>
          </a:p>
        </p:txBody>
      </p:sp>
    </p:spTree>
    <p:extLst>
      <p:ext uri="{BB962C8B-B14F-4D97-AF65-F5344CB8AC3E}">
        <p14:creationId xmlns:p14="http://schemas.microsoft.com/office/powerpoint/2010/main" val="473035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CEBA389-CE5D-46B0-BEB7-52A9298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ESTRUCTURA REACT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57771BC-4566-49BB-A72B-99486D1C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Cómo se organiza con Atomic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D7665-903E-41C4-8450-068F567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0ADE9A-900E-4517-A2BD-794BAFC2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F021D6-B3B6-42F4-8E3B-FC192308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5/10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788E12A8-64CC-4242-A039-6361C33D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F67068-C3A1-4378-A2D4-02BDFBD8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1 · ÁTOMOS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B6452C-DBB8-4960-9DB2-B0E15025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Button · Label · Image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CB7C88-BA29-4506-BA1D-ACE8E20E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Piezas pequeñas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B28557-385B-432B-A196-1F5957C0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B22D814-19F8-4304-B947-43EF4715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457980-ACB7-47E1-A0F6-4CDF189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2 · MOLÉCULAS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4E2C0F-2241-4886-B476-F518B75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FormField · ProjectCard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5A30E0C-DC5F-4223-A9F8-944DF115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Combinan átomos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4E6000C-8F5D-40C1-ACC5-1F6A5E16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6CC7F09-CBC0-48B3-AE06-97356DA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F6F16C1-A410-44A5-B2FF-2BA6EBEA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3 · ORGANISMOS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2ED1A5-31C8-4215-9FF9-A04B60F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Navbar · ProjectsSection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F83C1B9-1AF6-4E08-91D6-A3DD419B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Secciones completas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8C008BD-328E-4A41-AC42-AD39B374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0F4070CA-FC41-413C-9EE3-8DF1A833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8F17E33-6FE1-41C9-9327-8832389B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4 · PLANTILLA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C7DA133-6AEA-4AF7-8E40-DAD1838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PortfolioTemplate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5998A1A-01BC-4E44-84B2-DC38F736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Ubica secciones y pie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DA870FD-4FCA-421D-A55A-D9DB1D4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812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247"/>
          </a:bodyPr>
          <a:lstStyle xmlns:a="http://schemas.openxmlformats.org/drawingml/2006/main">
            <a:def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C1A5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1A5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0CF24E73-A34D-4E7B-8864-28EC23EB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71600"/>
            <a:ext cx="2028825" cy="1695450"/>
          </a:xfrm>
          <a:prstGeom xmlns:a="http://schemas.openxmlformats.org/drawingml/2006/main" prst="roundRect">
            <a:avLst>
              <a:gd name="adj" fmla="val 8427"/>
            </a:avLst>
          </a:prstGeom>
          <a:solidFill xmlns:a="http://schemas.openxmlformats.org/drawingml/2006/main">
            <a:srgbClr val="17302F"/>
          </a:solidFill>
          <a:ln xmlns:a="http://schemas.openxmlformats.org/drawingml/2006/main" w="9525">
            <a:solidFill>
              <a:srgbClr val="3A786E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E6E096-31E0-4329-B199-0E9288D7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724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5 · PÁGINA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62F86EB-F0ED-407F-9A3D-569C442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09750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PortfolioPage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588FB3E-3BA8-4FD8-81ED-43170147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724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Elige perfil y conecta</a:t>
            </a:r>
          </a:p>
        </p:txBody>
      </p:sp>
      <p:sp>
        <p:nvSpPr>
          <p:cNvPr id="30" name="panel">
            <a:extLst xmlns:a="http://schemas.openxmlformats.org/drawingml/2006/main">
              <a:ext uri="{FF2B5EF4-FFF2-40B4-BE49-F238E27FC236}">
                <a16:creationId xmlns:a16="http://schemas.microsoft.com/office/drawing/2014/main" id="{615D6C15-7F6C-413A-8D44-3A05EF1C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6486525" cy="24765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4488344-8B80-4DCA-9B93-2C8432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Una llamada de componente dentro de JSX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A8E944B-FD22-465A-968B-A5FCD43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const perfil = perfiles[perfilActual]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&lt;PortfolioTemplate key={perfil.id} perfil={perfil}&gt;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&lt;AboutMe perfil={perfil} /&gt;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&lt;ProjectsSection proyectos={perfil.proyectos} /&gt;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&lt;/PortfolioTemplate&gt;</a:t>
            </a:r>
          </a:p>
        </p:txBody>
      </p:sp>
      <p:sp>
        <p:nvSpPr>
          <p:cNvPr id="33" name="panel">
            <a:extLst xmlns:a="http://schemas.openxmlformats.org/drawingml/2006/main">
              <a:ext uri="{FF2B5EF4-FFF2-40B4-BE49-F238E27FC236}">
                <a16:creationId xmlns:a16="http://schemas.microsoft.com/office/drawing/2014/main" id="{6ADEE9F7-8CB8-4C59-B7B4-BB7FE41E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00425"/>
            <a:ext cx="4171950" cy="24765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29578A7-DE1C-44D0-9774-9BE730F2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752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Qué ocurre aquí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729C69E-2517-4C72-BE1C-C782C923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7528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PortfolioPage obtiene el perfil activo y pasa sus datos por props. PortfolioTemplate conserva el marco común. Los organismos usan moléculas, y estas reúnen átomos. Al cambiar de perfil se actualizan las secciones.</a:t>
            </a:r>
          </a:p>
        </p:txBody>
      </p:sp>
    </p:spTree>
    <p:extLst>
      <p:ext uri="{BB962C8B-B14F-4D97-AF65-F5344CB8AC3E}">
        <p14:creationId xmlns:p14="http://schemas.microsoft.com/office/powerpoint/2010/main" val="140959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25AB680-4CFD-4495-A6BC-D8F6497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PERFIL, PROPS Y JSON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67FD605-B1C3-4A4F-9B5F-20F7DA7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Cómo viajan los datos por la página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3464E-0ADD-4241-97F0-9F9E1FD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5B8B40-0FE7-494E-BB59-2F17049A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804AFC-2454-475C-9FF5-A41A77B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12A303EF-9FA2-4DAD-85F9-81A7EFD4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38750" cy="203835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355C1A-F471-4871-85AE-D3D33773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1. El estado elige el perfil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A4F9DE-AE7B-4CC3-9974-C697E38D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const [perfilActual, setPerfilActual] = useState(0)</a:t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const perfil = perfiles[perfilActual]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&lt;Presentation</a:t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perfilActual={perfilActual}</a:t>
            </a:r>
          </a:p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onSeleccionar={setPerfilActual} /&gt;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12B19F1-9263-4D3B-B009-E792D3EE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52550"/>
            <a:ext cx="5238750" cy="203835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57899E-5511-4E6B-8C59-2736DB1F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33525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2. La página entrega props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2EECE4-59AE-43F3-8278-FFE292A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3357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&lt;AboutMe perfil={perfil} /&gt;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&lt;ProjectsSection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proyectos={perfil.proyectos} /&gt;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&lt;NewsSection titulo="Noticias"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categoria="personal"</a:t>
            </a:r>
          </a:p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noticias={perfil.noticias} /&gt;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033C6B12-FD3E-487F-91B6-5736A957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20002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C32456-E6ED-4A3C-A703-220F2A6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3. Los organismos filtran y muestran los arreglos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69A6CF-3A3B-4172-BF35-4A504C9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proyectos.filter((proyecto) =&gt;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proyecto.categoria === filtro)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448945-1A1C-42B9-BC4A-E1E693CD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ProjectsSection crea una ProjectCard por proyecto. NewsSection conserva noticias de una categoría (personal o aprendizaje). La página cambia de perfil y cada organismo vuelve a dibujar su contenido.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96890F-711D-4542-B11C-41A646DC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Los datos salen de src/data/jocsan.json y src/data/compañero.json; perfiles.js los reúne en un arreglo.</a:t>
            </a:r>
          </a:p>
        </p:txBody>
      </p:sp>
    </p:spTree>
    <p:extLst>
      <p:ext uri="{BB962C8B-B14F-4D97-AF65-F5344CB8AC3E}">
        <p14:creationId xmlns:p14="http://schemas.microsoft.com/office/powerpoint/2010/main" val="18968565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3419265-567A-4989-98C4-00AD5983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INTERACCIONES DE USUARIO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BC65FA-DF0D-442C-AC83-874860C6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Formulario, navegación y accesibilidad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5AF98-58F0-4F0D-9855-BF681270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BC6015-EAFC-4D02-BE67-D8E1574A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42772D-E2E8-4598-B93A-8F28105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40AC8-7B82-4579-BDBC-5F52F2E1D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451f5068243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143500" cy="3429000"/>
          </a:xfrm>
          <a:prstGeom xmlns:a="http://schemas.openxmlformats.org/drawingml/2006/main" prst="roundRect">
            <a:avLst>
              <a:gd name="adj" fmla="val 3889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B0CFFF-EF6D-408D-B7A6-4BEDD2EF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La interfaz combina Bootstrap y estilos propios para adaptarse a distintos tamaños.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19C89CFC-129D-4DE5-93DA-DD5EF695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52550"/>
            <a:ext cx="5448300" cy="26670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3E7B4B-D856-441C-8557-57C6782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Formulario de contacto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F9605D-45CF-4997-B271-E92D34F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91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evento.preventDefault()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if (!nombre.trim() || !correo.trim() || !mensaje.trim()) {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setError('Campos incompletos')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return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if (!/^[^\s@]+@[^\s@]+\.[^\s@]+$/.test(correo)) {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setError('Correo inválido'); return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9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setConfirmacion('Validado localmente')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BACF8F-B27F-4F51-AABF-33F6E45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Si pasa las validaciones, muestra confirmación local; no manda correos.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ED1E5F32-1B83-434E-98AF-878161FE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5448300" cy="1181100"/>
          </a:xfrm>
          <a:prstGeom xmlns:a="http://schemas.openxmlformats.org/drawingml/2006/main" prst="roundRect">
            <a:avLst>
              <a:gd name="adj" fmla="val 1209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16A0E9-20B6-489F-BB13-A6DF1E47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499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Navegación y accesibilidad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A1D666-0077-4EE1-9056-6BE39D37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499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Navbar genera enlaces desde una lista y comunica el estado móvil con aria-expanded. Hay etiquetas, texto alternativo, enlace para saltar al contenido y mensajes role=status/alert.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D7F8A4BE-2904-46A6-BC7E-C93424B6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7302F"/>
          </a:solidFill>
          <a:ln xmlns:a="http://schemas.openxmlformats.org/drawingml/2006/main" w="9525">
            <a:solidFill>
              <a:srgbClr val="3A786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85752C9-F60A-4C80-90BC-B6AE6F1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La interacción se mantiene en el navegador: React actualiza el estado y la vista sin recargar la página.</a:t>
            </a:r>
          </a:p>
        </p:txBody>
      </p:sp>
    </p:spTree>
    <p:extLst>
      <p:ext uri="{BB962C8B-B14F-4D97-AF65-F5344CB8AC3E}">
        <p14:creationId xmlns:p14="http://schemas.microsoft.com/office/powerpoint/2010/main" val="1779634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4219AD-3986-4367-8C7C-C3A64022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VERIFICACIÓN DE LA PAUTA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FCB4CD-5570-4958-8FCF-7DED5BE9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Pruebas, cobertura y pendientes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F0577-5E60-4919-AC49-BCD7427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410851-747F-48B1-B331-1B530342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AFC037-5DB7-46BF-979B-30F31DAA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A3E69-B465-4158-A11A-85A3C02E4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2d02f032546db"/>
          <a:stretch xmlns:a="http://schemas.openxmlformats.org/drawingml/2006/main"/>
        </p:blipFill>
        <p:spPr>
          <a:xfrm xmlns:a="http://schemas.openxmlformats.org/drawingml/2006/main">
            <a:off x="609600" y="1336807"/>
            <a:ext cx="6667500" cy="1898385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C79A13-F3A9-461D-B92E-C61050D5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Statements 89.85% · branches 69.23% · functions 88.09% · lines 89.55%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C820C74D-D1BF-441D-8A22-207B00F8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33500"/>
            <a:ext cx="3981450" cy="23336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1165EC-1A66-4E6D-9072-CF74B17C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049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Resultados verificados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0C7E6AB-C159-4DB4-92B9-C20D8426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4 / 4 pruebas unitarias aprobadas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D01B33-8B76-452D-85BA-927C39B2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3 / 3 pruebas en Chromium aprobadas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FB179A-C295-4E90-9BBB-5F345BDB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Compilación de producción: correcta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5752280-7571-4F96-A215-2EAB7F2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3A6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3A65A"/>
                </a:solidFill>
                <a:latin typeface="Arial"/>
                <a:ea typeface="Arial"/>
                <a:cs typeface="Arial"/>
              </a:rPr>
              <a:t>ESLint aún reporta 22 imports React sin uso.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0692CE8A-FF5A-4B0A-902F-20480792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143500" cy="213360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6262E8-ABD8-4817-A609-926B6B53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Cumplido o avanzado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DC10D2-ED90-4348-935C-DFCAC60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667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React y componentes por Atomic Design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Dos perfiles y contenido JSON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Proyectos, noticias y contacto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Pruebas unitarias y Chromium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Plan de pruebas, README y capturas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CD7A900E-B1C3-4A4C-91C0-8B3D33CC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33825"/>
            <a:ext cx="5562600" cy="2133600"/>
          </a:xfrm>
          <a:prstGeom xmlns:a="http://schemas.openxmlformats.org/drawingml/2006/main" prst="roundRect">
            <a:avLst>
              <a:gd name="adj" fmla="val 6696"/>
            </a:avLst>
          </a:prstGeom>
          <a:solidFill xmlns:a="http://schemas.openxmlformats.org/drawingml/2006/main">
            <a:srgbClr val="30271E"/>
          </a:solidFill>
          <a:ln xmlns:a="http://schemas.openxmlformats.org/drawingml/2006/main" w="9525">
            <a:solidFill>
              <a:srgbClr val="76563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0EF69C-FF4E-4FA4-A580-9EEF5B8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24325"/>
            <a:ext cx="510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3A6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A65A"/>
                </a:solidFill>
                <a:latin typeface="Arial"/>
                <a:ea typeface="Arial"/>
                <a:cs typeface="Arial"/>
              </a:rPr>
              <a:t>Pendiente antes de presentar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497A454-D6C9-485B-B12D-A1A22B4E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51054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Tercer proyecto de Joaquín y enlaces de demo/repositorio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Casos adicionales del plan y revisión de teclado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Auditoría de accesibilidad y rendimiento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Activar Pages y confirmar el despliegue</a:t>
            </a:r>
          </a:p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Corregir ESLint y repetir comprobaciones</a:t>
            </a:r>
          </a:p>
        </p:txBody>
      </p:sp>
    </p:spTree>
    <p:extLst>
      <p:ext uri="{BB962C8B-B14F-4D97-AF65-F5344CB8AC3E}">
        <p14:creationId xmlns:p14="http://schemas.microsoft.com/office/powerpoint/2010/main" val="1116639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C304FD99-E829-47C4-981C-1240CA9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HISTORIAL DE TRABAJO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5E51FBA-9324-47F3-BB92-5784AFD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Cambios guardados en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EF835-AECF-4FE1-A72C-0144A894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227DA6C-6C5F-4451-8FAF-8E578D2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55C366-3979-48E1-A796-E53BA742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605ABE-A211-46AF-B4C1-65786D1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EF4516-0DDA-48EF-B08C-4B05FF9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66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E76039-600B-462C-85C6-08F8FED8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266825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CAMBIO REGISTRADO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79C2771-1487-43EF-8BA9-5AF75A6D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D751CE-5745-4A77-8525-2151D33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19 OCT 2026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70D6B7E-ADAD-4CCB-A0A7-6337B1DF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38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0c3d487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BC138F-EBF6-49A0-9051-45C1FFD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3830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README con descripción y uso del proyecto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E8E9507D-F057-4508-9670-B55DEED1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B2935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8ABDAD0-5927-4EBF-A9EC-7AC649AA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19 OCT 2026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8BC6E08-2B83-47D8-98E4-1C4B570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621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e9704e3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910A8C-825C-4E9F-AB26-73E0C3F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621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Capturas y detalles de los proyectos de Jocsan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801AAF4-CB94-490D-94A4-D8C4F389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84CAC2-289C-4136-AEA4-F650CC8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19 OCT 2026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6CD9B37-D1B2-4104-8A8A-AB21E46F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860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afb2172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35530DC-FD92-4E3F-8E0F-AE1FC34F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Foto de perfil de Jocsan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506F2E9C-A290-4351-9F9D-620504E6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B2935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789958-F880-4AB4-8467-CF0C826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19 OCT 2026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27FC02C-3C7B-48AD-BFDC-542722B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99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885c02a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1A08C63-627D-4C30-9EE0-0FB4B10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992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Actualización de datos e imágenes del proyecto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960AD4C3-6D50-4EDC-9B57-38DAD64D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9ECA50C-2B58-4A59-A61F-823530D2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19 OCT 2026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D744261-F7EB-42DC-AA10-CA4C2D49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338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dff0848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F92FFF9-D348-4797-9CB3-86A7EDD2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Configuración de Vitest, JSDOM y Chromium</a:t>
            </a:r>
          </a:p>
        </p:txBody>
      </p:sp>
      <p:sp>
        <p:nvSpPr>
          <p:cNvPr id="29" name="panel">
            <a:extLst xmlns:a="http://schemas.openxmlformats.org/drawingml/2006/main">
              <a:ext uri="{FF2B5EF4-FFF2-40B4-BE49-F238E27FC236}">
                <a16:creationId xmlns:a16="http://schemas.microsoft.com/office/drawing/2014/main" id="{20B67596-363E-4BFF-B55C-CE1A6967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B2935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1C64EA2-70E8-4676-8F86-75DBA414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19 OCT 2026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3164411-2283-48E1-8663-911F5F90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576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a35cbcc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6686F25-2CCA-4456-9527-19905472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576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Fixture genérica para simular datos de prueba</a:t>
            </a:r>
          </a:p>
        </p:txBody>
      </p:sp>
      <p:sp>
        <p:nvSpPr>
          <p:cNvPr id="33" name="panel">
            <a:extLst xmlns:a="http://schemas.openxmlformats.org/drawingml/2006/main">
              <a:ext uri="{FF2B5EF4-FFF2-40B4-BE49-F238E27FC236}">
                <a16:creationId xmlns:a16="http://schemas.microsoft.com/office/drawing/2014/main" id="{7B5A8426-711A-4A6C-9BB6-D550BC8C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080C949-2D78-45CE-926B-AC0A8E53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20 OCT 2026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1449C3C-46EB-49E5-A158-FD86772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815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f2b554f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10909B6-A362-4FA8-82F5-CBBAE71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Pruebas unitarias y de navegador para el formulario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72F8D9D4-3274-40D5-852A-334BCD3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1B2935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54E38AE1-1565-442C-A390-CC83E507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6C4"/>
                </a:solidFill>
                <a:latin typeface="Arial"/>
                <a:ea typeface="Arial"/>
                <a:cs typeface="Arial"/>
              </a:rPr>
              <a:t>23 OCT 2026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7F398D7-2AFB-4181-8768-C910D2FB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054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D9C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2D9C7"/>
                </a:solidFill>
                <a:latin typeface="Consolas"/>
                <a:ea typeface="Consolas"/>
                <a:cs typeface="Consolas"/>
              </a:rPr>
              <a:t>2d4958f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53720B8-2230-4C1A-B966-229CA4D7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0542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Informe técnico y presentación inicial de la evaluación (8 diapositivas)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B92142F-A13F-4F3E-863C-A8247773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Repositorio: github.com/SpaceSavege03/portafolio-personal · Los hashes permiten localizar cada cambio.</a:t>
            </a:r>
          </a:p>
        </p:txBody>
      </p:sp>
    </p:spTree>
    <p:extLst>
      <p:ext uri="{BB962C8B-B14F-4D97-AF65-F5344CB8AC3E}">
        <p14:creationId xmlns:p14="http://schemas.microsoft.com/office/powerpoint/2010/main" val="187708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7CC6908-8668-46A6-BDEC-9765BB3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CONCLUSIÓN Y CIERRE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C42F0C8-C7DD-400C-A77B-3ACFEDE9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Una interfaz compartida para dos perfiles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37BF9-460C-473A-82DC-FED4428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A47"/>
          </a:solidFill>
          <a:ln xmlns:a="http://schemas.openxmlformats.org/drawingml/2006/main" w="0">
            <a:solidFill>
              <a:srgbClr val="2B3A4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F66F8AF-46DA-46F1-805C-BC58F549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DSY1104 · EVALUACIÓN FORMATIVA 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1D89D8-1B2F-48BB-8AC4-48D9431B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A9B6C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6C4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82F7-5E80-468B-A477-5A2DFB672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c7e4a0b0346fe"/>
          <a:srcRect xmlns:a="http://schemas.openxmlformats.org/drawingml/2006/main" l="0" t="694" r="0" b="6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5143500" cy="3381375"/>
          </a:xfrm>
          <a:prstGeom xmlns:a="http://schemas.openxmlformats.org/drawingml/2006/main" prst="roundRect">
            <a:avLst>
              <a:gd name="adj" fmla="val 3944"/>
            </a:avLst>
          </a:prstGeom>
        </p:spPr>
      </p:pic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642E5E8-6469-4DD4-B047-8CDFAB15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52550"/>
            <a:ext cx="5448300" cy="3381375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31D27"/>
          </a:solidFill>
          <a:ln xmlns:a="http://schemas.openxmlformats.org/drawingml/2006/main" w="9525">
            <a:solidFill>
              <a:srgbClr val="2B3A4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629D09-FC1C-4227-9DDE-4A8D381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Lo que demuestra el proyecto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1798B3-716E-4C7B-BAEB-257B9902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React reutiliza la misma estructura para ambos perfiles.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Los JSON guardan los datos y las props los conectan con los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Atomic Design separa piezas, secciones y página.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Las pruebas unitarias y en Chromium, junto con la compilación, validan los recorridos implementados.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F6FC5229-6855-427B-867F-455010E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17302F"/>
          </a:solidFill>
          <a:ln xmlns:a="http://schemas.openxmlformats.org/drawingml/2006/main" w="9525">
            <a:solidFill>
              <a:srgbClr val="3A786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FB1F7D-157C-4F92-BBFA-6226596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2D9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D9C7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D19AAF-4ABB-4D25-A63A-E8CD6DE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La aplicación conecta contenido independiente con componentes reutilizables y muestra cómo React actualiza la interfaz al cambiar el perfil.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B47D50-5B40-42C8-BEC7-AF0E2C54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Muchas gracias por su atención · ¿Preguntas?</a:t>
            </a:r>
          </a:p>
        </p:txBody>
      </p:sp>
    </p:spTree>
    <p:extLst>
      <p:ext uri="{BB962C8B-B14F-4D97-AF65-F5344CB8AC3E}">
        <p14:creationId xmlns:p14="http://schemas.microsoft.com/office/powerpoint/2010/main" val="354289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2026-10-23T16:51:35.1760000Z</dcterms:created>
  <dcterms:modified xsi:type="dcterms:W3CDTF">2026-10-23T16:51:35.1760000Z</dcterms:modified>
</coreProperties>
</file>